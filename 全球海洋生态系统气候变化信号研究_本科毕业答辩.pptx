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E9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icrosoft YaHei"/>
              </a:rPr>
              <a:t>本科毕业答辩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78992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002D4F"/>
                </a:solidFill>
                <a:latin typeface="Microsoft YaHei"/>
              </a:rPr>
              <a:t>全球海洋生态系统气候变化信号研究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0">
                <a:solidFill>
                  <a:srgbClr val="008895"/>
                </a:solidFill>
                <a:latin typeface="Microsoft YaHei"/>
              </a:rPr>
              <a:t>基于 CESM2-LE 与 CESM-FEISTY 的出现时间（ToE）分析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002D4F"/>
                </a:solidFill>
                <a:latin typeface="Microsoft YaHei"/>
              </a:rPr>
              <a:t>厦门大学海洋与地球学院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56370"/>
                </a:solidFill>
                <a:latin typeface="Microsoft YaHei"/>
              </a:rPr>
              <a:t>汇报时长：约10分钟</a:t>
            </a:r>
          </a:p>
        </p:txBody>
      </p:sp>
      <p:sp>
        <p:nvSpPr>
          <p:cNvPr id="9" name="Arc 8"/>
          <p:cNvSpPr/>
          <p:nvPr/>
        </p:nvSpPr>
        <p:spPr>
          <a:xfrm>
            <a:off x="7498079" y="5166360"/>
            <a:ext cx="3200400" cy="594360"/>
          </a:xfrm>
          <a:prstGeom prst="arc">
            <a:avLst/>
          </a:prstGeom>
          <a:ln w="25400">
            <a:solidFill>
              <a:srgbClr val="005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7699248" y="5120640"/>
            <a:ext cx="3200400" cy="594360"/>
          </a:xfrm>
          <a:prstGeom prst="arc">
            <a:avLst/>
          </a:prstGeom>
          <a:ln w="25400">
            <a:solidFill>
              <a:srgbClr val="0088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7900415" y="5074920"/>
            <a:ext cx="3200400" cy="594360"/>
          </a:xfrm>
          <a:prstGeom prst="arc">
            <a:avLst/>
          </a:prstGeom>
          <a:ln w="25400">
            <a:solidFill>
              <a:srgbClr val="C79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汇报内容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835640" cy="4526280"/>
          </a:xfrm>
          <a:prstGeom prst="roundRect">
            <a:avLst/>
          </a:prstGeom>
          <a:solidFill>
            <a:srgbClr val="E9F4FA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691640"/>
            <a:ext cx="384048" cy="384048"/>
          </a:xfrm>
          <a:prstGeom prst="ellipse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755648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82496"/>
            <a:ext cx="8961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02D4F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441448"/>
            <a:ext cx="384048" cy="384048"/>
          </a:xfrm>
          <a:prstGeom prst="ellipse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2505456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32304"/>
            <a:ext cx="8961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02D4F"/>
                </a:solidFill>
                <a:latin typeface="Microsoft YaHei"/>
              </a:rPr>
              <a:t>数据来源与研究方法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191256"/>
            <a:ext cx="384048" cy="384048"/>
          </a:xfrm>
          <a:prstGeom prst="ellipse">
            <a:avLst/>
          </a:prstGeom>
          <a:solidFill>
            <a:srgbClr val="357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3255264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82112"/>
            <a:ext cx="8961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02D4F"/>
                </a:solidFill>
                <a:latin typeface="Microsoft YaHei"/>
              </a:rPr>
              <a:t>海洋变化的时空格局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941064"/>
            <a:ext cx="384048" cy="384048"/>
          </a:xfrm>
          <a:prstGeom prst="ellipse">
            <a:avLst/>
          </a:prstGeom>
          <a:solidFill>
            <a:srgbClr val="448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4005072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931920"/>
            <a:ext cx="8961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02D4F"/>
                </a:solidFill>
                <a:latin typeface="Microsoft YaHei"/>
              </a:rPr>
              <a:t>气候变化信号出现时间与信噪比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4690872"/>
            <a:ext cx="384048" cy="384048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4754880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81728"/>
            <a:ext cx="8961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02D4F"/>
                </a:solidFill>
                <a:latin typeface="Microsoft YaHei"/>
              </a:rPr>
              <a:t>主要结论与不足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5120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F2A33"/>
                </a:solidFill>
                <a:latin typeface="Microsoft YaHei"/>
              </a:rPr>
              <a:t>• 海洋吸收约91%额外热量，并吸收约25%人为排放CO₂，暖化、酸化、脱氧和层化增强持续改变海洋环境。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33"/>
                </a:solidFill>
                <a:latin typeface="Microsoft YaHei"/>
              </a:rPr>
              <a:t>• 生态系统变量受厄尔尼诺、年代际振荡和海洋环流等内部自然变率影响，仅看长期趋势不足以判断信号是否出现。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33"/>
                </a:solidFill>
                <a:latin typeface="Microsoft YaHei"/>
              </a:rPr>
              <a:t>• 出现时间（Time of Emergence, ToE）用于描述外部强迫信号何时超过自然波动范围。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166360" cy="23317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8132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00538A"/>
                </a:solidFill>
                <a:latin typeface="Microsoft YaHei"/>
              </a:rPr>
              <a:t>科学问题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F2A33"/>
                </a:solidFill>
                <a:latin typeface="Microsoft YaHei"/>
              </a:rPr>
              <a:t>• 哪些变量更早从自然变率中显现出人为气候变化信号？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33"/>
                </a:solidFill>
                <a:latin typeface="Microsoft YaHei"/>
              </a:rPr>
              <a:t>• 不同生态层级的ToE是否反映信号传播与营养级放大过程？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51960"/>
            <a:ext cx="2436876" cy="960120"/>
          </a:xfrm>
          <a:prstGeom prst="round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气候强迫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温室气体增加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87852" y="4622292"/>
            <a:ext cx="210311" cy="219456"/>
          </a:xfrm>
          <a:prstGeom prst="rightArrow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1588" y="4251960"/>
            <a:ext cx="2436876" cy="960120"/>
          </a:xfrm>
          <a:prstGeom prst="round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环境变化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升温/营养盐变化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4622292"/>
            <a:ext cx="210311" cy="219456"/>
          </a:xfrm>
          <a:prstGeom prst="rightArrow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4251960"/>
            <a:ext cx="2436876" cy="960120"/>
          </a:xfrm>
          <a:prstGeom prst="roundRect">
            <a:avLst/>
          </a:prstGeom>
          <a:solidFill>
            <a:srgbClr val="357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低营养级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初级生产/浮游生物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90788" y="4622292"/>
            <a:ext cx="210311" cy="219456"/>
          </a:xfrm>
          <a:prstGeom prst="rightArrow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64524" y="4251960"/>
            <a:ext cx="2436876" cy="960120"/>
          </a:xfrm>
          <a:prstGeom prst="roundRect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鱼类功能群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潜在生物量响应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486400"/>
            <a:ext cx="9326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56370"/>
                </a:solidFill>
                <a:latin typeface="Microsoft YaHei"/>
              </a:rPr>
              <a:t>研究思路：用ToE区分“变化趋势”与“可识别气候变化信号”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数据来源：CESM2-LE集合模拟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20" b="0">
                <a:solidFill>
                  <a:srgbClr val="1F2A33"/>
                </a:solidFill>
                <a:latin typeface="Microsoft YaHei"/>
              </a:rPr>
              <a:t>• CESM2-LE包含大气、海洋、生物地球化学、陆地和海冰模块；海洋模块约1°分辨率。</a:t>
            </a:r>
          </a:p>
          <a:p>
            <a:pPr>
              <a:spcAft>
                <a:spcPts val="500"/>
              </a:spcAft>
            </a:pPr>
            <a:r>
              <a:rPr sz="1220" b="0">
                <a:solidFill>
                  <a:srgbClr val="1F2A33"/>
                </a:solidFill>
                <a:latin typeface="Microsoft YaHei"/>
              </a:rPr>
              <a:t>• 模拟覆盖1850—2100年：历史阶段1850—2014年，未来阶段SSP3-7.0情景2015—2100年。</a:t>
            </a:r>
          </a:p>
          <a:p>
            <a:pPr>
              <a:spcAft>
                <a:spcPts val="500"/>
              </a:spcAft>
            </a:pPr>
            <a:r>
              <a:rPr sz="1220" b="0">
                <a:solidFill>
                  <a:srgbClr val="1F2A33"/>
                </a:solidFill>
                <a:latin typeface="Microsoft YaHei"/>
              </a:rPr>
              <a:t>• 本文使用10个集合成员；成员间差异主要反映内部自然变率，集合平均接近外部强迫响应。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143000"/>
            <a:ext cx="56692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00538A"/>
                </a:solidFill>
                <a:latin typeface="Microsoft YaHei"/>
              </a:rPr>
              <a:t>表2-1 本研究所用 CESM2-LE 集合成员总结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40680" y="1444752"/>
          <a:ext cx="59893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543"/>
                <a:gridCol w="3294126"/>
                <a:gridCol w="1317650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1">
                          <a:solidFill>
                            <a:srgbClr val="FFFFFF"/>
                          </a:solidFill>
                          <a:latin typeface="Microsoft YaHei"/>
                        </a:rPr>
                        <a:t>模拟</a:t>
                      </a:r>
                    </a:p>
                  </a:txBody>
                  <a:tcPr marL="18288" marR="18288" marT="9144" marB="9144">
                    <a:solidFill>
                      <a:srgbClr val="0053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Microsoft YaHei"/>
                        </a:rPr>
                        <a:t>初始条件</a:t>
                      </a:r>
                    </a:p>
                  </a:txBody>
                  <a:tcPr marL="18288" marR="18288" marT="9144" marB="9144">
                    <a:solidFill>
                      <a:srgbClr val="0053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>
                          <a:solidFill>
                            <a:srgbClr val="FFFFFF"/>
                          </a:solidFill>
                          <a:latin typeface="Microsoft YaHei"/>
                        </a:rPr>
                        <a:t>模拟期</a:t>
                      </a:r>
                    </a:p>
                  </a:txBody>
                  <a:tcPr marL="18288" marR="18288" marT="9144" marB="9144">
                    <a:solidFill>
                      <a:srgbClr val="0053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CESM2-LE-1001.001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第1001年分支初始场，扰动001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CESM2-LE-1101.006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第1101年分支初始场，扰动006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CESM2-LE-1231.001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第1231年分支初始场，扰动001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CESM2-LE-1231.010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第1231年分支初始场，扰动010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CESM2-LE-1251.001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第1251年分支初始场，扰动001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CESM2-LE-1301.006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第1301年分支初始场，扰动006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CESM2-LE-1301.010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第1301年分支初始场，扰动010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CESM2-LE-1281.001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第1281年分支初始场，扰动001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CESM2-LE-1011.001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第1011年分支初始场，扰动001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CESM2-LE-1051.001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CESM2 piControl 第1051年分支初始场，扰动001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1850—2100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情景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历史阶段1850—2014；未来阶段SSP3-7.0（2015—2100）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0">
                          <a:solidFill>
                            <a:srgbClr val="1F2A33"/>
                          </a:solidFill>
                          <a:latin typeface="Microsoft YaHei"/>
                        </a:rPr>
                        <a:t>10个成员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变量分组与鱼类模型框架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4352"/>
            <a:ext cx="5349240" cy="3003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325112"/>
            <a:ext cx="53492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>
                <a:solidFill>
                  <a:srgbClr val="556370"/>
                </a:solidFill>
                <a:latin typeface="Microsoft YaHei"/>
              </a:rPr>
              <a:t>图2-1 CESM-FEISTY模型运行示意图（据文献[28]）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4846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00538A"/>
                </a:solidFill>
                <a:latin typeface="Microsoft YaHei"/>
              </a:rPr>
              <a:t>表2-2 本研究主要变量分组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572768"/>
          <a:ext cx="521207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778"/>
                <a:gridCol w="2866644"/>
                <a:gridCol w="1146657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变量类别</a:t>
                      </a:r>
                    </a:p>
                  </a:txBody>
                  <a:tcPr marL="18288" marR="18288" marT="9144" marB="9144">
                    <a:solidFill>
                      <a:srgbClr val="0053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代表变量</a:t>
                      </a:r>
                    </a:p>
                  </a:txBody>
                  <a:tcPr marL="18288" marR="18288" marT="9144" marB="9144">
                    <a:solidFill>
                      <a:srgbClr val="0053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主要含义</a:t>
                      </a:r>
                    </a:p>
                  </a:txBody>
                  <a:tcPr marL="18288" marR="18288" marT="9144" marB="9144">
                    <a:solidFill>
                      <a:srgbClr val="00538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环境变量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海洋温度、硝酸盐、铁、硅酸盐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物理化学背景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低营养级变量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净初级生产力、硅藻、小型浮游植物、中型浮游动物、颗粒有机碳通量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初级生产与食物网底部过程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鱼类功能群变量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远洋鱼类、底栖鱼类、饵料鱼类潜在生物量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F2A33"/>
                          </a:solidFill>
                          <a:latin typeface="Microsoft YaHei"/>
                        </a:rPr>
                        <a:t>高营养级潜在生物量变化</a:t>
                      </a:r>
                    </a:p>
                  </a:txBody>
                  <a:tcPr marL="18288" marR="18288" marT="9144" marB="9144">
                    <a:solidFill>
                      <a:srgbClr val="F6FAFD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17920" y="3364992"/>
            <a:ext cx="5212080" cy="141732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547872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F2A33"/>
                </a:solidFill>
                <a:latin typeface="Microsoft YaHei"/>
              </a:rPr>
              <a:t>• 环境变量和低营养级变量直接来自CESM2-LE。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F2A33"/>
                </a:solidFill>
                <a:latin typeface="Microsoft YaHei"/>
              </a:rPr>
              <a:t>• 鱼类生物量来自CESM-FEISTY离线计算结果。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F2A33"/>
                </a:solidFill>
                <a:latin typeface="Microsoft YaHei"/>
              </a:rPr>
              <a:t>• 三类变量共同支撑跨营养级比较。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方法：出现时间（ToE）与信噪比（SNR）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0" y="1188720"/>
            <a:ext cx="5421640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816351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>
                <a:solidFill>
                  <a:srgbClr val="556370"/>
                </a:solidFill>
                <a:latin typeface="Microsoft YaHei"/>
              </a:rPr>
              <a:t>图2-2 某格点饵料鱼类生物量时间序列与ToE判定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5440680" cy="1691640"/>
          </a:xfrm>
          <a:prstGeom prst="roundRect">
            <a:avLst/>
          </a:prstGeom>
          <a:solidFill>
            <a:srgbClr val="E9F4FA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11887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00538A"/>
                </a:solidFill>
                <a:latin typeface="Microsoft YaHei"/>
              </a:rPr>
              <a:t>ToE 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80" b="0">
                <a:solidFill>
                  <a:srgbClr val="1F2A33"/>
                </a:solidFill>
                <a:latin typeface="Microsoft YaHei"/>
              </a:rPr>
              <a:t>• 基准期：1920—1949年，计算 μhist 与 σhist。</a:t>
            </a:r>
          </a:p>
          <a:p>
            <a:pPr>
              <a:spcAft>
                <a:spcPts val="500"/>
              </a:spcAft>
            </a:pPr>
            <a:r>
              <a:rPr sz="1180" b="0">
                <a:solidFill>
                  <a:srgbClr val="1F2A33"/>
                </a:solidFill>
                <a:latin typeface="Microsoft YaHei"/>
              </a:rPr>
              <a:t>• 阈值范围：μhist ± 2σhist。</a:t>
            </a:r>
          </a:p>
          <a:p>
            <a:pPr>
              <a:spcAft>
                <a:spcPts val="500"/>
              </a:spcAft>
            </a:pPr>
            <a:r>
              <a:rPr sz="1180" b="0">
                <a:solidFill>
                  <a:srgbClr val="1F2A33"/>
                </a:solidFill>
                <a:latin typeface="Microsoft YaHei"/>
              </a:rPr>
              <a:t>• 集合平均首次并持续5年超出阈值，记为ToE。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34440"/>
            <a:ext cx="4937760" cy="361188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55448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00538A"/>
                </a:solidFill>
                <a:latin typeface="Microsoft YaHei"/>
              </a:rPr>
              <a:t>核心公式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993392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50" b="0">
                <a:solidFill>
                  <a:srgbClr val="1F2A33"/>
                </a:solidFill>
                <a:latin typeface="Microsoft YaHei"/>
              </a:rPr>
              <a:t>ToEup：第一年 [Y(t) &gt; μhist + 2σhist]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432304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50" b="0">
                <a:solidFill>
                  <a:srgbClr val="1F2A33"/>
                </a:solidFill>
                <a:latin typeface="Microsoft YaHei"/>
              </a:rPr>
              <a:t>ToEdown：第一年 [Y(t) &lt; μhist − 2σhist]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71216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50" b="0">
                <a:solidFill>
                  <a:srgbClr val="1F2A33"/>
                </a:solidFill>
                <a:latin typeface="Microsoft YaHei"/>
              </a:rPr>
              <a:t>Signal = Ylate − μhist （2071—2100年）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3310128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50" b="0">
                <a:solidFill>
                  <a:srgbClr val="1F2A33"/>
                </a:solidFill>
                <a:latin typeface="Microsoft YaHei"/>
              </a:rPr>
              <a:t>Noise = σhist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749039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50" b="0">
                <a:solidFill>
                  <a:srgbClr val="1F2A33"/>
                </a:solidFill>
                <a:latin typeface="Microsoft YaHei"/>
              </a:rPr>
              <a:t>SNR = |Ylate − μhist| / σhist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SSP3-7.0情景下环境变量变化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01" y="1133856"/>
            <a:ext cx="3468173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图3-1 环境变量信号变化空间分布</a:t>
            </a:r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886" y="1133856"/>
            <a:ext cx="3417563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5332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图3-2 环境变量全球平均时间序列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05856"/>
            <a:ext cx="10378440" cy="56692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833872"/>
            <a:ext cx="9875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40" b="0">
                <a:solidFill>
                  <a:srgbClr val="1F2A33"/>
                </a:solidFill>
                <a:latin typeface="Microsoft YaHei"/>
              </a:rPr>
              <a:t>要点：上层150m平均海洋温度较早超出自然变率，约1990年后形成稳定升温趋势。；营养盐变化受层化、混合和生物过程共同影响，空间异质性更强。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低营养级变量的变化特征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069" y="1133856"/>
            <a:ext cx="3464637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图3-3 低营养级变量信号变化空间分布</a:t>
            </a:r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121" y="1133856"/>
            <a:ext cx="3419094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5332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图3-4 低营养级变量全球年平均时间序列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05856"/>
            <a:ext cx="10378440" cy="56692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833872"/>
            <a:ext cx="9875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40" b="0">
                <a:solidFill>
                  <a:srgbClr val="1F2A33"/>
                </a:solidFill>
                <a:latin typeface="Microsoft YaHei"/>
              </a:rPr>
              <a:t>要点：净初级生产力在高纬及部分铁限制海区增加，但北大西洋等区域局地下降。；小型浮游植物与硅藻呈现竞争关系，中型浮游动物变化与硅藻联系紧密。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鱼类功能群生物量变化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72422"/>
            <a:ext cx="5440680" cy="41577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图3-5 鱼类功能群生物量信号变化空间分布</a:t>
            </a:r>
          </a:p>
        </p:txBody>
      </p:sp>
      <p:pic>
        <p:nvPicPr>
          <p:cNvPr id="10" name="Picture 9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246273"/>
            <a:ext cx="5440680" cy="42100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5332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图3-6 鱼类功能群生物量全球平均时间序列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05856"/>
            <a:ext cx="10378440" cy="56692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833872"/>
            <a:ext cx="9875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40" b="0">
                <a:solidFill>
                  <a:srgbClr val="1F2A33"/>
                </a:solidFill>
                <a:latin typeface="Microsoft YaHei"/>
              </a:rPr>
              <a:t>要点：饵料鱼、浮泳鱼和底栖鱼整体呈下降趋势，但空间格局和出现时间不同。；浮泳鱼受食物来源、热压力和栖息地适宜性共同影响，下降趋势出现更早。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环境变量ToE与信噪比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66" y="1133856"/>
            <a:ext cx="3494643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图4-1 环境变量上升与下降方向ToE</a:t>
            </a:r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724" y="1133856"/>
            <a:ext cx="3329888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5332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图4-2 环境变量信噪比结果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05856"/>
            <a:ext cx="10378440" cy="56692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833872"/>
            <a:ext cx="9875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40" b="0">
                <a:solidFill>
                  <a:srgbClr val="1F2A33"/>
                </a:solidFill>
                <a:latin typeface="Microsoft YaHei"/>
              </a:rPr>
              <a:t>要点：海洋温度ToE最早且范围最广，许多海区集中在2000—2020年。；营养盐ToE更具区域性，噪声水平决定部分海区信号是否可识别。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低营养级变量ToE与信噪比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81" y="1133856"/>
            <a:ext cx="3493813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图4-3 低营养级变量上升与下降方向ToE</a:t>
            </a:r>
          </a:p>
        </p:txBody>
      </p:sp>
      <p:pic>
        <p:nvPicPr>
          <p:cNvPr id="10" name="Picture 9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288" y="1133856"/>
            <a:ext cx="3326759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5332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图4-4 低营养级变量信噪比结果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05856"/>
            <a:ext cx="10378440" cy="56692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833872"/>
            <a:ext cx="9875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40" b="0">
                <a:solidFill>
                  <a:srgbClr val="1F2A33"/>
                </a:solidFill>
                <a:latin typeface="Microsoft YaHei"/>
              </a:rPr>
              <a:t>要点：低营养级变量ToE整体晚于环境变量，空间分布更零散。；生态变量内部自然变率较强，长期趋势较容易被年际和年代际波动掩盖。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鱼类功能群ToE与信噪比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pic>
        <p:nvPicPr>
          <p:cNvPr id="8" name="Picture 7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53141"/>
            <a:ext cx="5440680" cy="41962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图4-5 鱼类功能群生物量上升与下降方向ToE</a:t>
            </a:r>
          </a:p>
        </p:txBody>
      </p:sp>
      <p:pic>
        <p:nvPicPr>
          <p:cNvPr id="10" name="Picture 9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189678"/>
            <a:ext cx="5440680" cy="4323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53328" y="5596128"/>
            <a:ext cx="5440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0">
                <a:solidFill>
                  <a:srgbClr val="556370"/>
                </a:solidFill>
                <a:latin typeface="Microsoft YaHei"/>
              </a:rPr>
              <a:t>图4-6 鱼类功能群生物量信噪比结果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05856"/>
            <a:ext cx="10378440" cy="566928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833872"/>
            <a:ext cx="98755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40" b="0">
                <a:solidFill>
                  <a:srgbClr val="1F2A33"/>
                </a:solidFill>
                <a:latin typeface="Microsoft YaHei"/>
              </a:rPr>
              <a:t>要点：饵料鱼和浮泳鱼在部分中低纬海区较早出现下降方向ToE。；底栖鱼ToE主要集中于近岸和高纬边缘海，近岸强自然变率会掩盖信号。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综合讨论：气候变化信号的生态传递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85465" cy="1143000"/>
          </a:xfrm>
          <a:prstGeom prst="round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环境背景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温度先响应；营养盐区域差异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62122" y="1879091"/>
            <a:ext cx="210311" cy="219456"/>
          </a:xfrm>
          <a:prstGeom prst="rightArrow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5858" y="1417320"/>
            <a:ext cx="2585465" cy="1143000"/>
          </a:xfrm>
          <a:prstGeom prst="round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生产基础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NPP、浮游植物群落重组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12179" y="1879091"/>
            <a:ext cx="210311" cy="219456"/>
          </a:xfrm>
          <a:prstGeom prst="rightArrow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5916" y="1417320"/>
            <a:ext cx="2585465" cy="1143000"/>
          </a:xfrm>
          <a:prstGeom prst="roundRect">
            <a:avLst/>
          </a:prstGeom>
          <a:solidFill>
            <a:srgbClr val="357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食物网连接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中型浮游动物与POC通量变化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62238" y="1879091"/>
            <a:ext cx="210311" cy="219456"/>
          </a:xfrm>
          <a:prstGeom prst="rightArrow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5974" y="1417320"/>
            <a:ext cx="2585465" cy="1143000"/>
          </a:xfrm>
          <a:prstGeom prst="roundRect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高营养级
</a:t>
            </a:r>
            <a:r>
              <a:rPr sz="1000" b="0">
                <a:solidFill>
                  <a:srgbClr val="FFFFFF"/>
                </a:solidFill>
                <a:latin typeface="Microsoft YaHei"/>
              </a:rPr>
              <a:t>鱼类潜在生物量改变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3429000" cy="1600200"/>
          </a:xfrm>
          <a:prstGeom prst="roundRect">
            <a:avLst/>
          </a:prstGeom>
          <a:solidFill>
            <a:srgbClr val="E9F4FA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00538A"/>
                </a:solidFill>
                <a:latin typeface="Microsoft YaHei"/>
              </a:rPr>
              <a:t>层级差异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0332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环境变量ToE较早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低营养级变量ToE更晚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鱼类响应受多重压力放大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063240"/>
            <a:ext cx="3429000" cy="1600200"/>
          </a:xfrm>
          <a:prstGeom prst="roundRect">
            <a:avLst/>
          </a:prstGeom>
          <a:solidFill>
            <a:srgbClr val="E9F4FA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3375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00538A"/>
                </a:solidFill>
                <a:latin typeface="Microsoft YaHei"/>
              </a:rPr>
              <a:t>空间差异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0332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高纬海区较敏感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近岸和上升流噪声较高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中低纬寡营养海区鱼类下降突出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063240"/>
            <a:ext cx="2971800" cy="1600200"/>
          </a:xfrm>
          <a:prstGeom prst="roundRect">
            <a:avLst/>
          </a:prstGeom>
          <a:solidFill>
            <a:srgbClr val="E9F4FA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3375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00538A"/>
                </a:solidFill>
                <a:latin typeface="Microsoft YaHei"/>
              </a:rPr>
              <a:t>机制认识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033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信号传递并非线性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自然变率影响识别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33"/>
                </a:solidFill>
                <a:latin typeface="Microsoft YaHei"/>
              </a:rPr>
              <a:t>• 营养级放大可能提前鱼类ToE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9875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02D4F"/>
                </a:solidFill>
                <a:latin typeface="Microsoft YaHei"/>
              </a:rPr>
              <a:t>核心认识：气候变化信号从物理化学环境向食物网传播时，会被生态竞争、食物供给与栖息地变化共同调制。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8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31575" y="128016"/>
            <a:ext cx="228600" cy="228600"/>
          </a:xfrm>
          <a:prstGeom prst="ellipse">
            <a:avLst/>
          </a:prstGeom>
          <a:solidFill>
            <a:srgbClr val="C7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538A"/>
                </a:solidFill>
                <a:latin typeface="Microsoft YaHei"/>
              </a:rPr>
              <a:t>主要结论与不足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56370"/>
                </a:solidFill>
                <a:latin typeface="Microsoft YaHei"/>
              </a:rPr>
              <a:t>厦门大学海洋与地球学院｜本科毕业答辩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440680" cy="443484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17904"/>
            <a:ext cx="1554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00538A"/>
                </a:solidFill>
                <a:latin typeface="Microsoft YaHei"/>
              </a:rPr>
              <a:t>主要结论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48006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F2A33"/>
                </a:solidFill>
                <a:latin typeface="Microsoft YaHei"/>
              </a:rPr>
              <a:t>• 上层和底层海洋温度信号最稳定，ToE出现早且范围广。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F2A33"/>
                </a:solidFill>
                <a:latin typeface="Microsoft YaHei"/>
              </a:rPr>
              <a:t>• 硝酸盐、硅酸盐和铁浓度变化受层化、环流和生物过程共同控制，空间差异显著。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F2A33"/>
                </a:solidFill>
                <a:latin typeface="Microsoft YaHei"/>
              </a:rPr>
              <a:t>• 低营养级变量ToE整体晚于环境变量，反映生态过程和自然变率的调制作用。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F2A33"/>
                </a:solidFill>
                <a:latin typeface="Microsoft YaHei"/>
              </a:rPr>
              <a:t>• 饵料鱼和浮泳鱼在部分海区较早偏离历史状态，体现食物、热压力和栖息地变化叠加下的营养级放大。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34440"/>
            <a:ext cx="4983480" cy="4434840"/>
          </a:xfrm>
          <a:prstGeom prst="roundRect">
            <a:avLst/>
          </a:prstGeom>
          <a:solidFill>
            <a:srgbClr val="E9F4FA"/>
          </a:solidFill>
          <a:ln w="1270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517904"/>
            <a:ext cx="1737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00538A"/>
                </a:solidFill>
                <a:latin typeface="Microsoft YaHei"/>
              </a:rPr>
              <a:t>不足与展望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938528"/>
            <a:ext cx="4343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2A33"/>
                </a:solidFill>
                <a:latin typeface="Microsoft YaHei"/>
              </a:rPr>
              <a:t>• 仅使用10个CESM2-LE集合成员，对内部自然变率估计仍有不确定性。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33"/>
                </a:solidFill>
                <a:latin typeface="Microsoft YaHei"/>
              </a:rPr>
              <a:t>• CESM-FEISTY为离线模型，鱼类响应受模型结构与输入变量限制。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33"/>
                </a:solidFill>
                <a:latin typeface="Microsoft YaHei"/>
              </a:rPr>
              <a:t>• 后续可扩展集合成员数量、比较多模式结果，并结合观测资料检验区域响应。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4767" y="654710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5637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E9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2240280"/>
            <a:ext cx="841248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400" b="1">
                <a:solidFill>
                  <a:srgbClr val="002D4F"/>
                </a:solidFill>
                <a:latin typeface="Microsoft YaHei"/>
              </a:rPr>
              <a:t>敬请各位老师批评指正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246120"/>
            <a:ext cx="23774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400" b="1">
                <a:solidFill>
                  <a:srgbClr val="00538A"/>
                </a:solidFill>
                <a:latin typeface="Microsoft YaHei"/>
              </a:rP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166360"/>
            <a:ext cx="8503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56370"/>
                </a:solidFill>
                <a:latin typeface="Microsoft YaHei"/>
              </a:rPr>
              <a:t>厦门大学海洋与地球学院｜全球海洋生态系统气候变化信号研究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